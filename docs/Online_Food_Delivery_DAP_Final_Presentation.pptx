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188720"/>
            <a:ext cx="92656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8BDF8"/>
                </a:solidFill>
                <a:latin typeface="Arial"/>
              </a:rPr>
              <a:t>TYBCA SEMESTER-6 | FINAL ACADEMIC PROJECT PRESENTATION</a:t>
            </a:r>
          </a:p>
          <a:p>
            <a:pPr>
              <a:spcBef>
                <a:spcPts val="1200"/>
              </a:spcBef>
            </a:pPr>
            <a:r>
              <a:rPr sz="2800" b="1">
                <a:solidFill>
                  <a:srgbClr val="FFFFFF"/>
                </a:solidFill>
                <a:latin typeface="Arial"/>
              </a:rPr>
              <a:t>Online Food Delivery Demand Forecasting &amp;
Peak Hour Regression Model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CBD5E1"/>
                </a:solidFill>
                <a:latin typeface="Arial"/>
              </a:rPr>
              <a:t>A Complete 15-Step Academic DAP Pipeline with Supervised Regression &amp; Classification Modeling</a:t>
            </a:r>
          </a:p>
          <a:p>
            <a:pPr>
              <a:spcBef>
                <a:spcPts val="2400"/>
              </a:spcBef>
            </a:pPr>
            <a:r>
              <a:rPr sz="1200">
                <a:solidFill>
                  <a:srgbClr val="94A3B8"/>
                </a:solidFill>
                <a:latin typeface="Arial"/>
              </a:rPr>
              <a:t>• Subject: 602 – Data Analytics Using Python (DAP)
• Group No: 6
• Domain: Food, E-Commerce &amp; Consumer Analytics
• Reference Standard: DAP Curriculum Benchmark (Zomato Reference Architecture)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rial"/>
              </a:rPr>
              <a:t>[Overview] </a:t>
            </a:r>
            <a:r>
              <a:rPr sz="2000" b="1">
                <a:solidFill>
                  <a:srgbClr val="0F172A"/>
                </a:solidFill>
                <a:latin typeface="Arial"/>
              </a:rPr>
              <a:t>Project Introduction &amp; Domain Overview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Food, E-Commerce &amp; Consumer Analytics Domain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602 – Data Analytics Using Python (DAP) | Group 6 | Online Food Delivery Demand Forecasting &amp; Peak Hour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Industry &amp; Domain Background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Massive Industry Growth: Rapid adoption of online food delivery apps (Zomato, Swiggy, UberEats) has created complex, high-velocity operational networks.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Dual Operational Dimensions: Success depends on understanding when consumer demand peaks and accurately estimating how long delivery fulfillment will take.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Hyper-Local Volatility: Demand varies dramatically across hours of the day, traffic conditions, courier availability, and geographical transit distances.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Academic Analytics Motivation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Structured DAP Methodology: Implements the 15-step Data Analytics using Python framework to extract actionable insights from raw operational logs.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Machine Learning Integration: Integrates Multiple Linear Regression for duration forecasting and Logistic Regression for peak demand classification.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End-to-End Integrity: Uses a real benchmark dataset of 45,593 verified delivery records with zero simulated data or fabricated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rial"/>
              </a:rPr>
              <a:t>[Context] </a:t>
            </a:r>
            <a:r>
              <a:rPr sz="2000" b="1">
                <a:solidFill>
                  <a:srgbClr val="0F172A"/>
                </a:solidFill>
                <a:latin typeface="Arial"/>
              </a:rPr>
              <a:t>Problem Statement &amp; Operational Challenges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Identifying Delivery Bottlenecks &amp; Demand Spikes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602 – Data Analytics Using Python (DAP) | Group 6 | Online Food Delivery Demand Forecasting &amp; Peak Hour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Key Operational Bottlenecks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Severe Peak Hour Congestion: Concentrated consumer order surges during lunch and dinner overwhelm delivery courier capacity.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Unpredictable Delivery Delays: Unforeseen traffic jams, severe weather, and multiple concurrent drop-offs lead to late deliveries and customer churn.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Inaccurate Static ETA Estimates: Rigid, distance-only time calculations fail to account for real-time traffic levels, courier ratings, or vehicle conditions.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Core Analytics Questions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1. When do peak order demand windows occur, and what share of total volume do they represent?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2. How significantly do distance, road traffic density, and courier factors impact delivery duration?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3. Can Multiple Linear Regression reliably predict continuous delivery times on unseen orders?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4. Can Logistic Regression accurately classify incoming orders into peak vs. off-peak windows?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rial"/>
              </a:rPr>
              <a:t>[Objectives] </a:t>
            </a:r>
            <a:r>
              <a:rPr sz="2000" b="1">
                <a:solidFill>
                  <a:srgbClr val="0F172A"/>
                </a:solidFill>
                <a:latin typeface="Arial"/>
              </a:rPr>
              <a:t>Project Objectives &amp; Scope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Analytical &amp; Machine Learning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602 – Data Analytics Using Python (DAP) | Group 6 | Online Food Delivery Demand Forecasting &amp; Peak Hour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Primary Analytical Goals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Data Cleaning &amp; Feature Engineering: Parse operational formats, compute Haversine spatial distance (km), and engineer temporal order metrics.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Exploratory Data Analysis: Perform comprehensive Univariate, Bivariate, and Multivariate EDA to profile customer demand behavior.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Statistical Imputation: Handle missing values and audit extreme outliers following academic curriculum guidelines.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Predictive Modeling Deliverables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Supervised Regression Model: Train `LinearRegression` on 80/20 train-test partition to forecast delivery fulfillment duration.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Supervised Classification Model: Train `LogisticRegression` to classify orders into Peak vs. Non-Peak windows.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Rigorous Model Evaluation: Calculate MSE, MAE, R², Confusion Matrix, and Underfitting/Overfitting diagnostics.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Actionable Recommendations: Propose dynamic courier pre-allocation and surge buffer policies for food delivery platforms.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rial"/>
              </a:rPr>
              <a:t>[Framework] </a:t>
            </a:r>
            <a:r>
              <a:rPr sz="2000" b="1">
                <a:solidFill>
                  <a:srgbClr val="0F172A"/>
                </a:solidFill>
                <a:latin typeface="Arial"/>
              </a:rPr>
              <a:t>Academic Source of Truth &amp; DAP 15-Step Workflow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VNSGU 602 DAP Curriculum Reference Alignment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602 – Data Analytics Using Python (DAP) | Group 6 | Online Food Delivery Demand Forecasting &amp; Peak Hour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The 15 Standard DAP Steps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Step 1: Python Libraries Import
• Step 2: Load Data &amp; Create DataFrame
• Step 3: Data Understanding &amp; Types
• Step 4: Data Spread &amp; Preparation
• Step 5: Check Missing &amp; Outliers
• Step 6: Handle Missing &amp; Outliers
• Step 7: EDA Univariate Analysis
• Step 8: EDA Bivariate Analysis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Step 9: EDA Multivariate Analysis
• Step 10: Regression Analysis
• Step 11: Regression Model Evaluation
• Step 12: Classification Model
• Step 13: Classification Evaluation
• Step 14: Underfitting / Overfitting
• Step 15: Conclusion &amp; Insights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100-Marks Marking Scheme Alignment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Data Understanding &amp; Cleaning (20 Marks): Dataset loading, type casting, string cleaning, mean imputation.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EDA &amp; Visualization (25 Marks): Min. 5 graphs across univariate, bivariate, multivariate with written conclusions.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Regression &amp; ML Concepts (25 Marks): Train-test split (80/20), random state, feature coefficients, bias-variance analysis.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Model Evaluation (15 Marks): MSE, MAE, R², 45° actual vs predicted line, classification accuracy, confusion matrix.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Viva &amp; Presentation (15 Marks): Structured format, verified outputs, academic defense readiness.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rial"/>
              </a:rPr>
              <a:t>[Data] </a:t>
            </a:r>
            <a:r>
              <a:rPr sz="2000" b="1">
                <a:solidFill>
                  <a:srgbClr val="0F172A"/>
                </a:solidFill>
                <a:latin typeface="Arial"/>
              </a:rPr>
              <a:t>Dataset Overview &amp; Characteristics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Benchmark Real Food Delivery Operations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602 – Data Analytics Using Python (DAP) | Group 6 | Online Food Delivery Demand Forecasting &amp; Peak Hour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Dataset Specifications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Total Raw Records: 45,593 verified customer orders.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Total Features: 20 raw attributes $\rightarrow$ 28 engineered features.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Data Source: Benchmark Multi-City Food Delivery Logistics Dataset (merged orders, courier, and spatial tables).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Geographical Coverage: Multi-hub metropolitan &amp; urban zones.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Continuous Target ($y_1$): `delivery_time_min` (Mean: 26.30 min, Range: 10–54 min).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Classification Target ($y_2$): `is_peak_hour` (Binary 0/1 indicator).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Feature Categorization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Temporal Features: `Order_Date`, `Time_Orderd`, `Time_Order_picked`, `order_hour`, `day_of_week`, `is_weekend`.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Spatial Features: `Restaurant_latitude/longitude`, `Delivery_location_latitude/longitude`, `distance_km`.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Operational Features: `Road_traffic_density`, `Weatherconditions`, `Vehicle_condition`, `multiple_deliveries`.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Human/Courier Features: `Delivery_person_Age`, `Delivery_person_Ratings`.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rial"/>
              </a:rPr>
              <a:t>[Step 1] </a:t>
            </a:r>
            <a:r>
              <a:rPr sz="2000" b="1">
                <a:solidFill>
                  <a:srgbClr val="0F172A"/>
                </a:solidFill>
                <a:latin typeface="Arial"/>
              </a:rPr>
              <a:t>Python Libraries &amp; Environment Setup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Core Academic Stack for Analytics &amp; Machine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602 – Data Analytics Using Python (DAP) | Group 6 | Online Food Delivery Demand Forecasting &amp; Peak Hour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Libraries &amp; Purpose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`pandas`: DataFrame manipulation, time-series parsing, cross-tabulation.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`numpy`: Mathematical calculations, array vectorization, Haversine spherical trigonometry.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`matplotlib.pyplot`: Foundational charting, figure structuring, 45-degree diagonal reference lines.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`seaborn`: Statistical distributions, heatmaps, categorical boxplots, regression trendlines.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Machine Learning Suite (`scikit-learn`)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`sklearn.model_selection.train_test_split`: Deterministic 80/20 data partitioning (`random_state=42`).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`sklearn.linear_model.LinearRegression`: Ordinary Least Squares (OLS) regression modeling.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`sklearn.linear_model.LogisticRegression`: Maximum Likelihood binary classification modeling.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`sklearn.metrics`: MSE, MAE, R² Score, Accuracy Score, Confusion Matrix, Classification Report.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rial"/>
              </a:rPr>
              <a:t>[Step 2 &amp; 3] </a:t>
            </a:r>
            <a:r>
              <a:rPr sz="2000" b="1">
                <a:solidFill>
                  <a:srgbClr val="0F172A"/>
                </a:solidFill>
                <a:latin typeface="Arial"/>
              </a:rPr>
              <a:t>Data Loading &amp; Structural Inspection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Verifying Data Types, Dimensions &amp; Summary Statistics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602 – Data Analytics Using Python (DAP) | Group 6 | Online Food Delivery Demand Forecasting &amp; Peak Hour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Step 2: DataFrame Creation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Loading: `pd.read_csv('../data/raw/food_delivery_raw.csv')`.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Row Count: Exactly 45,593 rows loaded into memory.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Column Count: 20 initial attributes.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Shape Verification: `.shape` confirmed `(45593, 20)`.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Top/Bottom Records: Inspected via `.head()` and `.tail()` to ensure zero truncation or file corruption.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Step 3: Understanding Structure &amp; Summary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Data Types: 10 numerical features, 13 categorical strings, 1 datetime object.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Summary Statistics (`.describe()`):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  - Courier Age: Mean 29.56 years (Range: 15–50).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  - Courier Ratings: Mean 4.63 / 5.0 (Range: 1.0–6.0).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  - Delivery Duration: Mean 26.30 min, Std 9.38 min.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  - Delivery Distance: Mean 9.74 km (Max capped at 50 km).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rial"/>
              </a:rPr>
              <a:t>[Step 4] </a:t>
            </a:r>
            <a:r>
              <a:rPr sz="2000" b="1">
                <a:solidFill>
                  <a:srgbClr val="0F172A"/>
                </a:solidFill>
                <a:latin typeface="Arial"/>
              </a:rPr>
              <a:t>Data Spread, Cleaning &amp; Feature Engineering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String Cleaning, Time Parsing &amp; Haversine Distance Calculation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602 – Data Analytics Using Python (DAP) | Group 6 | Online Food Delivery Demand Forecasting &amp; Peak Hour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Cleaning String &amp; Format Artifacts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Delivery Time Cleaning: Converted `'(min) 24'` $\rightarrow$ `24.0` numeric float (analogous to `handleRate` in reference Zomato notebook).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Weather String Cleaning: Cleaned `'conditions Fog'` $\rightarrow$ `'Fog'`.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Whitespace Stripping: Stripped whitespace across all categorical text columns.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Missing Representation: Replaced `'NaN'`, `'null'`, empty strings with standard `np.nan`.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Engineered Mathematical Features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Haversine Distance (km): Computed geodesic distance from GPS pairs using spherical trigonometry: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  $$d = 2r \arcsin\left(\sqrt{\sin^2(\Delta\phi/2) + \cos\phi_1\cos\phi_2\sin^2(\Delta\lambda/2)}\right)$$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Temporal Parsing: Extracted `order_hour` (0–23), `day_of_week`, and `is_weekend` flag.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Peak Hour Indicator: Derived `is_peak_hour = 1` for lunch (12–14h) &amp; dinner (18–23h) demand windows.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rial"/>
              </a:rPr>
              <a:t>[Step 5 &amp; 6] </a:t>
            </a:r>
            <a:r>
              <a:rPr sz="2000" b="1">
                <a:solidFill>
                  <a:srgbClr val="0F172A"/>
                </a:solidFill>
                <a:latin typeface="Arial"/>
              </a:rPr>
              <a:t>Missing Data Imputation &amp; Outlier Diagnostics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Academic Imputation Standard &amp; Domain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602 – Data Analytics Using Python (DAP) | Group 6 | Online Food Delivery Demand Forecasting &amp; Peak Hour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Step 5: Missing Data &amp; Outliers Audit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Missing Values Audit: Identified nulls in `Delivery_person_Age`, `Delivery_person_Ratings`, `multiple_deliveries`, `distance_km`.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Outlier Detection: Boxplot inspection showed delivery times ranging between 10 to 54 minutes.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Outlier Decision: Values &gt; 45 minutes reflect genuine adverse events (traffic jams, heavy rain) rather than measurement errors; preserved to retain natural real-world variance.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Step 6: Systematic Imputation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Numerical Imputation: Followed curriculum standard via column mean replacement: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  `df.fillna(df.mean(numeric_only=True), inplace=True)`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Categorical Imputation: Mode replacement for missing traffic density, weather condition, and city type.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Final Audit: Verified 0 remaining missing values across all 45,593 records.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rial"/>
              </a:rPr>
              <a:t>[Step 7] </a:t>
            </a:r>
            <a:r>
              <a:rPr sz="2000" b="1">
                <a:solidFill>
                  <a:srgbClr val="0F172A"/>
                </a:solidFill>
                <a:latin typeface="Arial"/>
              </a:rPr>
              <a:t>Univariate EDA: Delivery Duration Distribution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Analyzing Target Spread &amp; Central Tendency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602 – Data Analytics Using Python (DAP) | Group 6 | Online Food Delivery Demand Forecasting &amp; Peak Hour Regression</a:t>
            </a:r>
          </a:p>
        </p:txBody>
      </p:sp>
      <p:pic>
        <p:nvPicPr>
          <p:cNvPr id="6" name="Picture 5" descr="01_delivery_tim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2926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463040"/>
            <a:ext cx="45720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64592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Arial"/>
              </a:rPr>
              <a:t>Statistical Distribution Summary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Symmetric Bell-Shaped Curve: Delivery durations exhibit a clean, near-normal distribution.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Central Metrics: Mean delivery time is 26.3 minutes; median is 26.0 minutes.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Operational Spread: Interquartile range spans 19 to 32 minutes, with standard orders completing within 15–40 minutes.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Tail Events: Deliveries extending past 45 minutes correspond directly to severe traffic jams and multiple concurrent stops.</a:t>
            </a:r>
          </a:p>
          <a:p>
            <a:pPr>
              <a:spcBef>
                <a:spcPts val="1200"/>
              </a:spcBef>
            </a:pPr>
            <a:r>
              <a:rPr sz="1100" b="1">
                <a:solidFill>
                  <a:srgbClr val="E11D48"/>
                </a:solidFill>
                <a:latin typeface="Arial"/>
              </a:rPr>
              <a:t>KEY TAKEAWAY: Mean Delivery Time = 26.3 min | Median = 26.0 min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rial"/>
              </a:rPr>
              <a:t>[Step 7] </a:t>
            </a:r>
            <a:r>
              <a:rPr sz="2000" b="1">
                <a:solidFill>
                  <a:srgbClr val="0F172A"/>
                </a:solidFill>
                <a:latin typeface="Arial"/>
              </a:rPr>
              <a:t>Univariate EDA: Hourly Order Demand Pattern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Identifying 24-Hour Consumer Ordering Cycles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602 – Data Analytics Using Python (DAP) | Group 6 | Online Food Delivery Demand Forecasting &amp; Peak Hour Regression</a:t>
            </a:r>
          </a:p>
        </p:txBody>
      </p:sp>
      <p:pic>
        <p:nvPicPr>
          <p:cNvPr id="6" name="Picture 5" descr="02_hourly_demand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266007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463040"/>
            <a:ext cx="45720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64592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Arial"/>
              </a:rPr>
              <a:t>24-Hour Demand Observations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Bimodal Demand Peaks: Clear consumer ordering surges occur during lunch (12:00–14:00) and dinner (18:00–22:00).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Dominant Evening Peak: 19:00 is the single busiest hour (4,595 orders), closely followed by 18:00 (4,480 orders) and 20:00 (4,230 orders).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Secondary Lunch Surge: Moderate peak at 13:00 (~1,850 orders).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Off-Peak Troughs: Minimal ordering between 00:00–07:00 and late afternoon (15:00–17:00).</a:t>
            </a:r>
          </a:p>
          <a:p>
            <a:pPr>
              <a:spcBef>
                <a:spcPts val="1200"/>
              </a:spcBef>
            </a:pPr>
            <a:r>
              <a:rPr sz="1100" b="1">
                <a:solidFill>
                  <a:srgbClr val="E11D48"/>
                </a:solidFill>
                <a:latin typeface="Arial"/>
              </a:rPr>
              <a:t>KEY TAKEAWAY: Peak Demand Windows: 12-14h (Lunch) &amp; 18-22h (Dinner)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rial"/>
              </a:rPr>
              <a:t>[Step 7] </a:t>
            </a:r>
            <a:r>
              <a:rPr sz="2000" b="1">
                <a:solidFill>
                  <a:srgbClr val="0F172A"/>
                </a:solidFill>
                <a:latin typeface="Arial"/>
              </a:rPr>
              <a:t>Univariate EDA: Peak vs. Non-Peak Order Volume Split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Quantifying Platform Traffic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602 – Data Analytics Using Python (DAP) | Group 6 | Online Food Delivery Demand Forecasting &amp; Peak Hour Regression</a:t>
            </a:r>
          </a:p>
        </p:txBody>
      </p:sp>
      <p:pic>
        <p:nvPicPr>
          <p:cNvPr id="6" name="Picture 5" descr="03_peak_vs_nonpeak_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463040"/>
            <a:ext cx="45720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64592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Arial"/>
              </a:rPr>
              <a:t>Traffic Distribution Breakdown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Peak Window Concentration: 65.48% of all platform orders (29,853 orders) occur during designated peak hours.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Off-Peak Window: 34.52% of platform volume (15,740 orders) is spread across off-peak periods.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Fleet Imbalance: Operational pressure on delivery fleets is concentrated in less than 9 operating hours daily.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Scheduling Target: Justifies the binary classification problem (`is_peak_hour`) for dynamic courier surge pricing.</a:t>
            </a:r>
          </a:p>
          <a:p>
            <a:pPr>
              <a:spcBef>
                <a:spcPts val="1200"/>
              </a:spcBef>
            </a:pPr>
            <a:r>
              <a:rPr sz="1100" b="1">
                <a:solidFill>
                  <a:srgbClr val="E11D48"/>
                </a:solidFill>
                <a:latin typeface="Arial"/>
              </a:rPr>
              <a:t>KEY TAKEAWAY: 65.5% of Total Daily Orders Occur During Peak Hours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rial"/>
              </a:rPr>
              <a:t>[Step 7] </a:t>
            </a:r>
            <a:r>
              <a:rPr sz="2000" b="1">
                <a:solidFill>
                  <a:srgbClr val="0F172A"/>
                </a:solidFill>
                <a:latin typeface="Arial"/>
              </a:rPr>
              <a:t>Univariate EDA: Weekly Demand Trends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Analyzing Day-of-Week Consumer Ordering Behavior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602 – Data Analytics Using Python (DAP) | Group 6 | Online Food Delivery Demand Forecasting &amp; Peak Hour Regression</a:t>
            </a:r>
          </a:p>
        </p:txBody>
      </p:sp>
      <p:pic>
        <p:nvPicPr>
          <p:cNvPr id="6" name="Picture 5" descr="04_day_of_week_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2926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463040"/>
            <a:ext cx="45720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64592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Arial"/>
              </a:rPr>
              <a:t>Weekly Order Dynamics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Steady Weekday Baseline: Consistent order volumes from Monday through Thursday (~6,200–6,400 orders/day).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Weekend Elevation: Significant volume expansion on Friday, Saturday, and Sunday (~6,800+ orders/day).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Friday Dinner Spike: Highest single-day order density occurs on Friday evenings as weekend leisure ordering begins.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Operational Insight: Delivery partner incentives and fleet availability must scale by +15% over weekends.</a:t>
            </a:r>
          </a:p>
          <a:p>
            <a:pPr>
              <a:spcBef>
                <a:spcPts val="1200"/>
              </a:spcBef>
            </a:pPr>
            <a:r>
              <a:rPr sz="1100" b="1">
                <a:solidFill>
                  <a:srgbClr val="E11D48"/>
                </a:solidFill>
                <a:latin typeface="Arial"/>
              </a:rPr>
              <a:t>KEY TAKEAWAY: Weekend Demand Surges Require Dynamic Staffing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rial"/>
              </a:rPr>
              <a:t>[Step 8] </a:t>
            </a:r>
            <a:r>
              <a:rPr sz="2000" b="1">
                <a:solidFill>
                  <a:srgbClr val="0F172A"/>
                </a:solidFill>
                <a:latin typeface="Arial"/>
              </a:rPr>
              <a:t>Bivariate EDA: Distance vs. Delivery Duration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Quantifying Transit Distance &amp; Traffic Congestion Interactions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602 – Data Analytics Using Python (DAP) | Group 6 | Online Food Delivery Demand Forecasting &amp; Peak Hour Regression</a:t>
            </a:r>
          </a:p>
        </p:txBody>
      </p:sp>
      <p:pic>
        <p:nvPicPr>
          <p:cNvPr id="6" name="Picture 5" descr="05_distance_vs_delivery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2926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463040"/>
            <a:ext cx="45720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64592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Arial"/>
              </a:rPr>
              <a:t>Bivariate Relationship Insights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Positive Linear Correlation: Delivery duration increases steadily with geographical distance in km.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Traffic Stratification: Points stratified by traffic level (Low, Medium, High, Jam) demonstrate clear vertical shift.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Traffic Delays Outweigh Distance: Short deliveries (3–5 km) in severe Jam traffic frequently take longer than long deliveries (15 km) in Low traffic.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Confirms Multivariable Need: Distance alone cannot predict delivery duration; traffic density is a vital predictor.</a:t>
            </a:r>
          </a:p>
          <a:p>
            <a:pPr>
              <a:spcBef>
                <a:spcPts val="1200"/>
              </a:spcBef>
            </a:pPr>
            <a:r>
              <a:rPr sz="1100" b="1">
                <a:solidFill>
                  <a:srgbClr val="E11D48"/>
                </a:solidFill>
                <a:latin typeface="Arial"/>
              </a:rPr>
              <a:t>KEY TAKEAWAY: Traffic Level is as Critical as Physical Transit Distance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rial"/>
              </a:rPr>
              <a:t>[Step 8] </a:t>
            </a:r>
            <a:r>
              <a:rPr sz="2000" b="1">
                <a:solidFill>
                  <a:srgbClr val="0F172A"/>
                </a:solidFill>
                <a:latin typeface="Arial"/>
              </a:rPr>
              <a:t>Bivariate EDA: Delivery Duration by Traffic Level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Boxplot Spread Across Traffic Congestion Categories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602 – Data Analytics Using Python (DAP) | Group 6 | Online Food Delivery Demand Forecasting &amp; Peak Hour Regression</a:t>
            </a:r>
          </a:p>
        </p:txBody>
      </p:sp>
      <p:pic>
        <p:nvPicPr>
          <p:cNvPr id="6" name="Picture 5" descr="06_traffic_density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3251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463040"/>
            <a:ext cx="45720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64592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Arial"/>
              </a:rPr>
              <a:t>Traffic Density Analysis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Low Traffic: Median delivery time = 21.0 minutes (IQR: 15–26 min).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Medium Traffic: Median delivery time = 26.0 minutes (IQR: 20–31 min).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High Traffic: Median delivery time = 29.0 minutes (IQR: 23–35 min).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Jam Conditions: Median delivery time = 35.0 minutes (IQR: 28–42 min).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Congestion Penalty: Severe traffic jams add an average delay of +14.0 minutes over free-flowing traffic.</a:t>
            </a:r>
          </a:p>
          <a:p>
            <a:pPr>
              <a:spcBef>
                <a:spcPts val="1200"/>
              </a:spcBef>
            </a:pPr>
            <a:r>
              <a:rPr sz="1100" b="1">
                <a:solidFill>
                  <a:srgbClr val="E11D48"/>
                </a:solidFill>
                <a:latin typeface="Arial"/>
              </a:rPr>
              <a:t>KEY TAKEAWAY: Traffic Jam Adds +14 Minutes Average Delivery Delay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rial"/>
              </a:rPr>
              <a:t>[Step 9] </a:t>
            </a:r>
            <a:r>
              <a:rPr sz="2000" b="1">
                <a:solidFill>
                  <a:srgbClr val="0F172A"/>
                </a:solidFill>
                <a:latin typeface="Arial"/>
              </a:rPr>
              <a:t>Multivariate EDA: Mean Delivery Time Cross-Tab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Two-Way Pivot Table of Order Type vs. Traffic Density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602 – Data Analytics Using Python (DAP) | Group 6 | Online Food Delivery Demand Forecasting &amp; Peak Hour Regression</a:t>
            </a:r>
          </a:p>
        </p:txBody>
      </p:sp>
      <p:pic>
        <p:nvPicPr>
          <p:cNvPr id="6" name="Picture 5" descr="07_multivariate_pivo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3901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463040"/>
            <a:ext cx="45720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64592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Arial"/>
              </a:rPr>
              <a:t>Multivariate Pivot Findings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Cross-Tab Dimensions: Evaluates average delivery duration across 4 Order Types (Buffet, Drinks, Meal, Snack) and 4 Traffic Levels.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Uniform Meal Preparation: Baseline delivery times across all 4 meal types are nearly identical (~25.8–26.5 min).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Universal Traffic Vulnerability: Under Jam conditions, delivery times increase to ~35.2 min regardless of whether the order is a Snack or a Buffet.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Takeaway: External logistical factors dominate internal kitchen preparation times.</a:t>
            </a:r>
          </a:p>
          <a:p>
            <a:pPr>
              <a:spcBef>
                <a:spcPts val="1200"/>
              </a:spcBef>
            </a:pPr>
            <a:r>
              <a:rPr sz="1100" b="1">
                <a:solidFill>
                  <a:srgbClr val="E11D48"/>
                </a:solidFill>
                <a:latin typeface="Arial"/>
              </a:rPr>
              <a:t>KEY TAKEAWAY: Traffic Delays Affect All Order Types Uniformly (~35 min)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rial"/>
              </a:rPr>
              <a:t>[Step 9] </a:t>
            </a:r>
            <a:r>
              <a:rPr sz="2000" b="1">
                <a:solidFill>
                  <a:srgbClr val="0F172A"/>
                </a:solidFill>
                <a:latin typeface="Arial"/>
              </a:rPr>
              <a:t>Multivariate EDA: Numerical Correlation Matrix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Evaluating Inter-Feature Statistical Correlations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602 – Data Analytics Using Python (DAP) | Group 6 | Online Food Delivery Demand Forecasting &amp; Peak Hour Regression</a:t>
            </a:r>
          </a:p>
        </p:txBody>
      </p:sp>
      <p:pic>
        <p:nvPicPr>
          <p:cNvPr id="6" name="Picture 5" descr="08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46817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463040"/>
            <a:ext cx="45720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64592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Arial"/>
              </a:rPr>
              <a:t>Correlation Insights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Strong Positive Drivers of Delivery Time: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  - `multiple_deliveries` (+0.38): Major delay factor.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  - `distance_km` (+0.30): Direct physical transit driver.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  - `Delivery_person_Age` (+0.29): Moderate positive relationship.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Strong Negative Drivers (Efficiency):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  - `Delivery_person_Ratings` (-0.36): Highly rated riders deliver faster.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  - `Vehicle_condition` (-0.24): Maintained vehicles reduce transit delay.</a:t>
            </a:r>
          </a:p>
          <a:p>
            <a:pPr>
              <a:spcBef>
                <a:spcPts val="1200"/>
              </a:spcBef>
            </a:pPr>
            <a:r>
              <a:rPr sz="1100" b="1">
                <a:solidFill>
                  <a:srgbClr val="E11D48"/>
                </a:solidFill>
                <a:latin typeface="Arial"/>
              </a:rPr>
              <a:t>KEY TAKEAWAY: Rider Ratings &amp; Vehicle Condition Accelerate Deliveries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rial"/>
              </a:rPr>
              <a:t>[Step 10] </a:t>
            </a:r>
            <a:r>
              <a:rPr sz="2000" b="1">
                <a:solidFill>
                  <a:srgbClr val="0F172A"/>
                </a:solidFill>
                <a:latin typeface="Arial"/>
              </a:rPr>
              <a:t>Regression Modeling Architecture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Forecasting Operational Delivery Duration (Minutes)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602 – Data Analytics Using Python (DAP) | Group 6 | Online Food Delivery Demand Forecasting &amp; Peak Hour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Problem Formulation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Objective: Predict continuous delivery duration (`delivery_time_min`) from operational and environmental features.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Mathematical Equation: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  $$\hat{y} = \beta_0 + \sum_{i=1}^{p} \beta_i X_i$$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Feature Matrix ($X$): Distance, hour, courier age, ratings, vehicle condition, multiple deliveries, traffic dummies, weather dummies.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Zero Data Leakage: Order IDs and raw target derived metrics excluded.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Training &amp; Validation Setup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Train-Test Partition: 80% Training ($N = 36,474$), 20% Testing ($N = 9,119$).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Reproducibility: Defined `random_state = 42`.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Algorithm: Scikit-learn `LinearRegression()` with Ordinary Least Squares (OLS) estimation.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Model Artifact: Serialized to `outputs/models/linear_regression_demand.joblib`.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rial"/>
              </a:rPr>
              <a:t>[Step 10] </a:t>
            </a:r>
            <a:r>
              <a:rPr sz="2000" b="1">
                <a:solidFill>
                  <a:srgbClr val="0F172A"/>
                </a:solidFill>
                <a:latin typeface="Arial"/>
              </a:rPr>
              <a:t>Regression Feature Coefficients &amp; Interpretation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Quantifying the Impact of Key Operational Predictors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602 – Data Analytics Using Python (DAP) | Group 6 | Online Food Delivery Demand Forecasting &amp; Peak Hour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Top Delay Factors (+ve Coefficients)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`multiple_deliveries` ($\beta = +3.4409$): Each additional batch stop adds ~3.44 minutes to delivery time.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`traffic_Jam` ($\beta = +1.0032$): Severe congestion consistently delays delivery schedules.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`Delivery_person_Age` ($\beta = +0.4176$): Older courier age exhibits slightly longer fulfillment times.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`distance_km` ($\beta = +0.3667$): Each additional kilometer adds ~0.37 min (22 seconds) transit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Top Speed Factors (-ve Coefficients)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`Delivery_person_Ratings` ($\beta = -7.1816$): Top-rated couriers complete orders ~7.18 minutes faster per rating point.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`weather_Sunny` ($\beta = -6.7157$): Clear weather accelerates deliveries by ~6.72 minutes vs. adverse weather.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`traffic_Low` ($\beta = -6.5874$): Free-flowing traffic saves ~6.59 minutes over baseline.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`Vehicle_condition` ($\beta = -2.3176$): Well-maintained vehicles reduce transit delay by ~2.32 minutes per condition tier.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rial"/>
              </a:rPr>
              <a:t>[Step 11] </a:t>
            </a:r>
            <a:r>
              <a:rPr sz="2000" b="1">
                <a:solidFill>
                  <a:srgbClr val="0F172A"/>
                </a:solidFill>
                <a:latin typeface="Arial"/>
              </a:rPr>
              <a:t>Regression Model Evaluation Metrics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Quantitative Assessment of Forecasting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602 – Data Analytics Using Python (DAP) | Group 6 | Online Food Delivery Demand Forecasting &amp; Peak Hour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Calculated Evaluation Metrics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Mean Squared Error (MSE):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  - Training Set: 40.1144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  - Testing Set: 39.6322 (Low residual variance)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Mean Absolute Error (MAE):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  - Training Set: 5.0236 min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  - Testing Set: 4.9990 min (Average error &lt; 5 minutes)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Coefficient of Determination ($R^2$ Score):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  - Training Set: 0.5449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  - Testing Set: 0.5480 (54.80% variance explained)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Academic Metric Interpretation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MAE Significance: An MAE of ~5.0 minutes means that for an average 26-minute delivery, predictions deviate by less than 5 minutes on unseen real orders.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$R^2$ Performance: Explaining 54.80% of variance in urban logistics—where traffic and weather are highly noisy—demonstrates solid linear model fit.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Generalization Consistency: Test MSE is slightly lower than Train MSE, confirming zero overfitting.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rial"/>
              </a:rPr>
              <a:t>[Step 11] </a:t>
            </a:r>
            <a:r>
              <a:rPr sz="2000" b="1">
                <a:solidFill>
                  <a:srgbClr val="0F172A"/>
                </a:solidFill>
                <a:latin typeface="Arial"/>
              </a:rPr>
              <a:t>Regression Evaluation: Actual vs. Predicted Plot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Mandatory DAP 45-Degree Reference Diagonal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602 – Data Analytics Using Python (DAP) | Group 6 | Online Food Delivery Demand Forecasting &amp; Peak Hour Regression</a:t>
            </a:r>
          </a:p>
        </p:txBody>
      </p:sp>
      <p:pic>
        <p:nvPicPr>
          <p:cNvPr id="6" name="Picture 5" descr="09_actual_vs_predicted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3901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463040"/>
            <a:ext cx="45720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64592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Arial"/>
              </a:rPr>
              <a:t>Scatter Plot Diagnostics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DAP Requirement: Evaluates test predictions against actual values along the red 45° dashed reference line ($y=x$).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Unbiased Alignment: Data points are distributed symmetrically along the 45-degree diagonal across the 10–50 minute range.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Stable Error Bounds: No extreme horn-shaped heteroskedasticity; residual variance remains consistent across low and high delivery times.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Residual Error: Visualized in `outputs/figures/10_regression_residuals_distribution.png` as a zero-centered normal distribution.</a:t>
            </a:r>
          </a:p>
          <a:p>
            <a:pPr>
              <a:spcBef>
                <a:spcPts val="1200"/>
              </a:spcBef>
            </a:pPr>
            <a:r>
              <a:rPr sz="1100" b="1">
                <a:solidFill>
                  <a:srgbClr val="E11D48"/>
                </a:solidFill>
                <a:latin typeface="Arial"/>
              </a:rPr>
              <a:t>KEY TAKEAWAY: Model Predictions Track Actual Delivery Durations Accurately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rial"/>
              </a:rPr>
              <a:t>[Step 12] </a:t>
            </a:r>
            <a:r>
              <a:rPr sz="2000" b="1">
                <a:solidFill>
                  <a:srgbClr val="0F172A"/>
                </a:solidFill>
                <a:latin typeface="Arial"/>
              </a:rPr>
              <a:t>Classification Modeling: Peak Hour Prediction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Supervised Logistic Regression for Dynamic Demand Windows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602 – Data Analytics Using Python (DAP) | Group 6 | Online Food Delivery Demand Forecasting &amp; Peak Hour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Classification Formulation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Objective: Classify whether an order falls into a Peak Demand Window ($1$) vs. Off-Peak Period ($0$).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Empirical Target ($y$):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  $$y = \begin{cases} 1, &amp; \text{if Hour} \in [12, 13, 14, 18, 19, 20, 21, 22, 23] \\ 0, &amp; \text{otherwise} \end{cases}$$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Business Purpose: Trigger automated fleet surge alerts and dynamic courier incentive bonuses.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Model Setup &amp; Features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Features ($X$): Delivery duration, distance, courier age, rating, vehicle condition, multiple deliveries, traffic dummies, weather dummies.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Stratified 80/20 Partition: $N = 36,474$ Train / $N = 9,119$ Test.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Algorithm: `LogisticRegression(max_iter=1000, random_state=42)`.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Model Artifact: Serialized to `outputs/models/logistic_regression_peak_hour.joblib`.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rial"/>
              </a:rPr>
              <a:t>[Step 13] </a:t>
            </a:r>
            <a:r>
              <a:rPr sz="2000" b="1">
                <a:solidFill>
                  <a:srgbClr val="0F172A"/>
                </a:solidFill>
                <a:latin typeface="Arial"/>
              </a:rPr>
              <a:t>Classification Evaluation &amp; Confusion Matrix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Accuracy, Precision, Recall &amp; Heatmap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602 – Data Analytics Using Python (DAP) | Group 6 | Online Food Delivery Demand Forecasting &amp; Peak Hour Regression</a:t>
            </a:r>
          </a:p>
        </p:txBody>
      </p:sp>
      <p:pic>
        <p:nvPicPr>
          <p:cNvPr id="6" name="Picture 5" descr="11_classification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41801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463040"/>
            <a:ext cx="45720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64592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Arial"/>
              </a:rPr>
              <a:t>Classification Performance Metrics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Testing Accuracy: 81.66% on unseen test instances (Training Accuracy: 81.84%).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Confusion Matrix Breakdown ($N = 9,119$):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  - True Negatives (Non-Peak Correct): 2,314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  - False Positives: 834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  - False Negatives: 838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  - True Positives (Peak Hours Correct): 5,133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Peak Hour Recall: 85.97% ($5,133 / 5,971$)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• Peak Hour Precision: 86.02% ($5,133 / 5,967$)</a:t>
            </a:r>
          </a:p>
          <a:p>
            <a:pPr>
              <a:spcBef>
                <a:spcPts val="1200"/>
              </a:spcBef>
            </a:pPr>
            <a:r>
              <a:rPr sz="1100" b="1">
                <a:solidFill>
                  <a:srgbClr val="E11D48"/>
                </a:solidFill>
                <a:latin typeface="Arial"/>
              </a:rPr>
              <a:t>KEY TAKEAWAY: 81.66% Test Accuracy | 86.0% Peak Hour Detection Recall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rial"/>
              </a:rPr>
              <a:t>[Step 14] </a:t>
            </a:r>
            <a:r>
              <a:rPr sz="2000" b="1">
                <a:solidFill>
                  <a:srgbClr val="0F172A"/>
                </a:solidFill>
                <a:latin typeface="Arial"/>
              </a:rPr>
              <a:t>Underfitting vs. Overfitting Diagnostics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Rigorous Train vs. Test Performance &amp; Generalization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602 – Data Analytics Using Python (DAP) | Group 6 | Online Food Delivery Demand Forecasting &amp; Peak Hour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Performance Generalization Table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Linear Regression ($R^2$):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  - Train $R^2 = 0.5449$ | Test $R^2 = 0.5480$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  - Generalization Delta ($\Delta R^2$): **0.0031**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Linear Regression (MAE):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  - Train MAE = 5.02 min | Test MAE = 5.00 min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Logistic Regression (Accuracy):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  - Train Acc = 81.84% | Test Acc = 81.66%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  - Generalization Delta ($\Delta \text{Acc}$): **0.18%**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Diagnostic Evaluation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Overfitting (High Variance) Check: Ruled out because test metrics match training metrics without degradation.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Underfitting (High Bias) Check: Ruled out because models capture 54.8% of delivery variance and 81.7% classification accuracy across 45,593 records.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Final Diagnosis: Both models demonstrate optimal bias-variance tradeoff and robust generalization.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rial"/>
              </a:rPr>
              <a:t>[Step 15] </a:t>
            </a:r>
            <a:r>
              <a:rPr sz="2000" b="1">
                <a:solidFill>
                  <a:srgbClr val="0F172A"/>
                </a:solidFill>
                <a:latin typeface="Arial"/>
              </a:rPr>
              <a:t>Key Analytical Findings Summary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Core Insights Extracted from 45,593 Food Delivery Transactions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602 – Data Analytics Using Python (DAP) | Group 6 | Online Food Delivery Demand Forecasting &amp; Peak Hour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Demand &amp; Temporal Insights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Concentrated Demand Cycles: 65.5% of total daily demand occurs in bimodal lunch (12–14h) and dinner (18–22h) windows.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Dinner Peak Dominance: 19:00 is the peak order hour with 4,595 transactions.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Weekend Volume Expansion: Friday evening to Sunday accounts for peak weekly order density.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Logistical &amp; Model Insights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Severe Traffic Bottleneck: Jam conditions add an average +14 minutes delay across all order types.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High Courier Impact: Highly rated couriers with well-maintained vehicles reduce fulfillment times by ~7–9 minutes.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Predictive Reliability: Linear Regression forecasts delivery duration within 5 minutes MAE; Logistic Regression identifies peak windows with 81.7% accuracy.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rial"/>
              </a:rPr>
              <a:t>[Impact] </a:t>
            </a:r>
            <a:r>
              <a:rPr sz="2000" b="1">
                <a:solidFill>
                  <a:srgbClr val="0F172A"/>
                </a:solidFill>
                <a:latin typeface="Arial"/>
              </a:rPr>
              <a:t>Actionable Business Recommendations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Operational Optimization Strategies for Delivery Platforms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602 – Data Analytics Using Python (DAP) | Group 6 | Online Food Delivery Demand Forecasting &amp; Peak Hour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Fleet Dispatch &amp; Routing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1. Dynamic Courier Pre-Allocation: Pre-position delivery couriers in dense restaurant hubs 30 minutes prior to dinner peak (17:30).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2. Smart Batching Controls: Limit concurrent multi-deliveries to a maximum of 2 stops during Jam traffic (each extra stop adds +3.44 min).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3. Vehicle Maintenance Subsidies: Provide fleet maintenance rewards to couriers maintaining Tier 1/2 vehicle condition.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Customer Experience &amp; Pricing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4. Dynamic ETA Buffers: Automatically expand customer delivery estimates by 8–12 minutes during peak traffic congestion alerts.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5. Tiered Courier Incentives: Provide higher per-order bonuses during severe weather and dinner peaks to prevent rider shortages.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6. Off-Peak Order Promos: Offer discount vouchers during 15:00–17:00 troughs to flatten operational demand spikes.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rial"/>
              </a:rPr>
              <a:t>[Future Scope] </a:t>
            </a:r>
            <a:r>
              <a:rPr sz="2000" b="1">
                <a:solidFill>
                  <a:srgbClr val="0F172A"/>
                </a:solidFill>
                <a:latin typeface="Arial"/>
              </a:rPr>
              <a:t>Future Scope &amp; Project Limitations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Opportunities for Extended Analytics &amp; Platform Scaling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602 – Data Analytics Using Python (DAP) | Group 6 | Online Food Delivery Demand Forecasting &amp; Peak Hour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Project Limitations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Straight-Line Distance: Haversine distance approximates route length; actual turn-by-turn road networks may differ.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Linear Assumption: Linear Regression captures additive linear factors; non-linear traffic interactions require ensemble tree modeling.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Future Enhancement Avenues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Live GPS Map Routing: Integrate OpenStreetMap / Google Maps Routing API for real-time turn-by-turn distance.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Non-Linear Ensemble Models: Implement Random Forest and XGBoost to model complex weather-traffic interactions.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Order Basket Analytics: Incorporate order monetary value and item quantities into dynamic kitchen prep modeling.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rial"/>
              </a:rPr>
              <a:t>[Conclusion] </a:t>
            </a:r>
            <a:r>
              <a:rPr sz="2000" b="1">
                <a:solidFill>
                  <a:srgbClr val="0F172A"/>
                </a:solidFill>
                <a:latin typeface="Arial"/>
              </a:rPr>
              <a:t>References &amp; Academic Acknowledgements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TYBCA 602 DAP Examination Defense Ready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602 – Data Analytics Using Python (DAP) | Group 6 | Online Food Delivery Demand Forecasting &amp; Peak Hour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Academic References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VNSGU 602 Data Analytics Using Python (DAP) Syllabus &amp; Lab Manual.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DAP Reference Architecture: Zomato DAP Benchmark Guidelines (`stepbystep.md` &amp; `marking-structure-scheme.md`).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Scikit-learn Documentation: Pedregosa et al., OLS Regression &amp; Logistic Regression.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McKinney, Wes: Python for Data Analysis (Pandas, Numpy).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Arial"/>
              </a:rPr>
              <a:t>Project Deliverables Summary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5 Academic Jupyter Notebooks (`01` to `05` in `notebooks/`).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11 High-Resolution Generated Visualizations in `outputs/figures/`.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2 Serialized Machine Learning Models in `outputs/models/`.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• Comprehensive Documentation in `docs/` &amp; `README.md`.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0F172A"/>
                </a:solidFill>
                <a:latin typeface="Arial"/>
              </a:rPr>
              <a:t>
🎓 Thank You! Open for Questions &amp; External Viva Defense.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